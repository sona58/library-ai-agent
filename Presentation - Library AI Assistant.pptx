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</p:sldIdLst>
  <p:sldSz cx="18288000" cy="10287000"/>
  <p:notesSz cx="6858000" cy="9144000"/>
  <p:embeddedFontLst>
    <p:embeddedFont>
      <p:font typeface="Tenor Sans" charset="1" panose="02000000000000000000"/>
      <p:regular r:id="rId10"/>
    </p:embeddedFont>
    <p:embeddedFont>
      <p:font typeface="Clear Sans" charset="1" panose="020B0503030202020304"/>
      <p:regular r:id="rId11"/>
    </p:embeddedFont>
    <p:embeddedFont>
      <p:font typeface="Clear Sans Italics" charset="1" panose="020B0503030202090304"/>
      <p:regular r:id="rId12"/>
    </p:embeddedFont>
    <p:embeddedFont>
      <p:font typeface="Clear Sans Bold" charset="1" panose="020B0803030202020304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https://library-guide-1012048153698.europe-west1.run.app" TargetMode="External" Type="http://schemas.openxmlformats.org/officeDocument/2006/relationships/hyperlink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139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15846" y="780850"/>
            <a:ext cx="11281161" cy="5171939"/>
            <a:chOff x="0" y="0"/>
            <a:chExt cx="15041548" cy="6895919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190500"/>
              <a:ext cx="15041548" cy="5499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0500"/>
                </a:lnSpc>
              </a:pPr>
              <a:r>
                <a:rPr lang="en-US" sz="10500" spc="-210">
                  <a:solidFill>
                    <a:srgbClr val="F5FFFA"/>
                  </a:solidFill>
                  <a:latin typeface="Tenor Sans"/>
                  <a:ea typeface="Tenor Sans"/>
                  <a:cs typeface="Tenor Sans"/>
                  <a:sym typeface="Tenor Sans"/>
                </a:rPr>
                <a:t>Building a Cloud-Native AI </a:t>
              </a:r>
              <a:r>
                <a:rPr lang="en-US" sz="10500" spc="-210">
                  <a:solidFill>
                    <a:srgbClr val="F5FFFA"/>
                  </a:solidFill>
                  <a:latin typeface="Tenor Sans"/>
                  <a:ea typeface="Tenor Sans"/>
                  <a:cs typeface="Tenor Sans"/>
                  <a:sym typeface="Tenor Sans"/>
                </a:rPr>
                <a:t>Library Assistant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6199644"/>
              <a:ext cx="15041548" cy="6962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480"/>
                </a:lnSpc>
                <a:spcBef>
                  <a:spcPct val="0"/>
                </a:spcBef>
              </a:pPr>
              <a:r>
                <a:rPr lang="en-US" sz="3200">
                  <a:solidFill>
                    <a:srgbClr val="F5FFF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BY SONALI CHAWLA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172950" y="0"/>
            <a:ext cx="6115050" cy="10287000"/>
            <a:chOff x="0" y="0"/>
            <a:chExt cx="947381" cy="159372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47381" cy="1593725"/>
            </a:xfrm>
            <a:custGeom>
              <a:avLst/>
              <a:gdLst/>
              <a:ahLst/>
              <a:cxnLst/>
              <a:rect r="r" b="b" t="t" l="l"/>
              <a:pathLst>
                <a:path h="1593725" w="947381">
                  <a:moveTo>
                    <a:pt x="0" y="0"/>
                  </a:moveTo>
                  <a:lnTo>
                    <a:pt x="947381" y="0"/>
                  </a:lnTo>
                  <a:lnTo>
                    <a:pt x="947381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0" t="-58" r="0" b="-58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8774635" y="7396104"/>
            <a:ext cx="6274865" cy="4114800"/>
          </a:xfrm>
          <a:custGeom>
            <a:avLst/>
            <a:gdLst/>
            <a:ahLst/>
            <a:cxnLst/>
            <a:rect r="r" b="b" t="t" l="l"/>
            <a:pathLst>
              <a:path h="4114800" w="6274865">
                <a:moveTo>
                  <a:pt x="0" y="0"/>
                </a:moveTo>
                <a:lnTo>
                  <a:pt x="6274865" y="0"/>
                </a:lnTo>
                <a:lnTo>
                  <a:pt x="627486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139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16205" y="488305"/>
            <a:ext cx="16855591" cy="78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000"/>
              </a:lnSpc>
              <a:spcBef>
                <a:spcPct val="0"/>
              </a:spcBef>
            </a:pPr>
            <a:r>
              <a:rPr lang="en-US" sz="5000" spc="-100">
                <a:solidFill>
                  <a:srgbClr val="F5FFFA"/>
                </a:solidFill>
                <a:latin typeface="Tenor Sans"/>
                <a:ea typeface="Tenor Sans"/>
                <a:cs typeface="Tenor Sans"/>
                <a:sym typeface="Tenor Sans"/>
              </a:rPr>
              <a:t>The Problem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16205" y="1445342"/>
            <a:ext cx="16855591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F5FFFA"/>
                </a:solidFill>
                <a:latin typeface="Clear Sans"/>
                <a:ea typeface="Clear Sans"/>
                <a:cs typeface="Clear Sans"/>
                <a:sym typeface="Clear Sans"/>
              </a:rPr>
              <a:t>T</a:t>
            </a:r>
            <a:r>
              <a:rPr lang="en-US" sz="3000">
                <a:solidFill>
                  <a:srgbClr val="F5FFFA"/>
                </a:solidFill>
                <a:latin typeface="Clear Sans"/>
                <a:ea typeface="Clear Sans"/>
                <a:cs typeface="Clear Sans"/>
                <a:sym typeface="Clear Sans"/>
              </a:rPr>
              <a:t>raditional library catalogs are static and hard to navigate for casual readers seeking detailed context.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5150568" y="7200900"/>
            <a:ext cx="6274865" cy="4114800"/>
          </a:xfrm>
          <a:custGeom>
            <a:avLst/>
            <a:gdLst/>
            <a:ahLst/>
            <a:cxnLst/>
            <a:rect r="r" b="b" t="t" l="l"/>
            <a:pathLst>
              <a:path h="4114800" w="6274865">
                <a:moveTo>
                  <a:pt x="0" y="0"/>
                </a:moveTo>
                <a:lnTo>
                  <a:pt x="6274864" y="0"/>
                </a:lnTo>
                <a:lnTo>
                  <a:pt x="627486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5" id="5"/>
          <p:cNvSpPr txBox="true"/>
          <p:nvPr/>
        </p:nvSpPr>
        <p:spPr>
          <a:xfrm rot="0">
            <a:off x="716205" y="3093095"/>
            <a:ext cx="16855591" cy="78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000"/>
              </a:lnSpc>
              <a:spcBef>
                <a:spcPct val="0"/>
              </a:spcBef>
            </a:pPr>
            <a:r>
              <a:rPr lang="en-US" sz="5000" spc="-100">
                <a:solidFill>
                  <a:srgbClr val="F5FFFA"/>
                </a:solidFill>
                <a:latin typeface="Tenor Sans"/>
                <a:ea typeface="Tenor Sans"/>
                <a:cs typeface="Tenor Sans"/>
                <a:sym typeface="Tenor Sans"/>
              </a:rPr>
              <a:t>The Solution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16205" y="4045595"/>
            <a:ext cx="16855591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F5FFFA"/>
                </a:solidFill>
                <a:latin typeface="Clear Sans"/>
                <a:ea typeface="Clear Sans"/>
                <a:cs typeface="Clear Sans"/>
                <a:sym typeface="Clear Sans"/>
              </a:rPr>
              <a:t>A spec</a:t>
            </a:r>
            <a:r>
              <a:rPr lang="en-US" sz="3000">
                <a:solidFill>
                  <a:srgbClr val="F5FFFA"/>
                </a:solidFill>
                <a:latin typeface="Clear Sans"/>
                <a:ea typeface="Clear Sans"/>
                <a:cs typeface="Clear Sans"/>
                <a:sym typeface="Clear Sans"/>
              </a:rPr>
              <a:t>ialized AI Agent that provides deep insights into books, including plot, characters, and recommendations.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16205" y="5693420"/>
            <a:ext cx="16855591" cy="78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000"/>
              </a:lnSpc>
              <a:spcBef>
                <a:spcPct val="0"/>
              </a:spcBef>
            </a:pPr>
            <a:r>
              <a:rPr lang="en-US" sz="5000" spc="-100">
                <a:solidFill>
                  <a:srgbClr val="F5FFFA"/>
                </a:solidFill>
                <a:latin typeface="Tenor Sans"/>
                <a:ea typeface="Tenor Sans"/>
                <a:cs typeface="Tenor Sans"/>
                <a:sym typeface="Tenor Sans"/>
              </a:rPr>
              <a:t>Core Task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16205" y="6645920"/>
            <a:ext cx="16855591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F5FFFA"/>
                </a:solidFill>
                <a:latin typeface="Clear Sans"/>
                <a:ea typeface="Clear Sans"/>
                <a:cs typeface="Clear Sans"/>
                <a:sym typeface="Clear Sans"/>
              </a:rPr>
              <a:t>Detailed Book Metadata &amp; Contextual Retrieval in form of Questions and Answers.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16205" y="7760345"/>
            <a:ext cx="16855591" cy="78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000"/>
              </a:lnSpc>
              <a:spcBef>
                <a:spcPct val="0"/>
              </a:spcBef>
            </a:pPr>
            <a:r>
              <a:rPr lang="en-US" sz="5000" spc="-100">
                <a:solidFill>
                  <a:srgbClr val="F5FFFA"/>
                </a:solidFill>
                <a:latin typeface="Tenor Sans"/>
                <a:ea typeface="Tenor Sans"/>
                <a:cs typeface="Tenor Sans"/>
                <a:sym typeface="Tenor Sans"/>
              </a:rPr>
              <a:t>Tech Stack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16205" y="8712845"/>
            <a:ext cx="16855591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F5FFFA"/>
                </a:solidFill>
                <a:latin typeface="Clear Sans"/>
                <a:ea typeface="Clear Sans"/>
                <a:cs typeface="Clear Sans"/>
                <a:sym typeface="Clear Sans"/>
              </a:rPr>
              <a:t>Orch</a:t>
            </a:r>
            <a:r>
              <a:rPr lang="en-US" sz="3000">
                <a:solidFill>
                  <a:srgbClr val="F5FFFA"/>
                </a:solidFill>
                <a:latin typeface="Clear Sans"/>
                <a:ea typeface="Clear Sans"/>
                <a:cs typeface="Clear Sans"/>
                <a:sym typeface="Clear Sans"/>
              </a:rPr>
              <a:t>estration: Agent Development Kit (ADK), Inference: Gemini 2.5 Flash, Hosting: Google Cloud Run (Serverless)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139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3320415"/>
            <a:ext cx="16592550" cy="7052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 i="true">
                <a:solidFill>
                  <a:srgbClr val="F5FFFA"/>
                </a:solidFill>
                <a:latin typeface="Clear Sans Italics"/>
                <a:ea typeface="Clear Sans Italics"/>
                <a:cs typeface="Clear Sans Italics"/>
                <a:sym typeface="Clear Sans Italics"/>
              </a:rPr>
              <a:t>hello.</a:t>
            </a:r>
          </a:p>
          <a:p>
            <a:pPr algn="l">
              <a:lnSpc>
                <a:spcPts val="2940"/>
              </a:lnSpc>
            </a:pPr>
            <a:r>
              <a:rPr lang="en-US" sz="2100" i="true">
                <a:solidFill>
                  <a:srgbClr val="F5FFFA"/>
                </a:solidFill>
                <a:latin typeface="Clear Sans Italics"/>
                <a:ea typeface="Clear Sans Italics"/>
                <a:cs typeface="Clear Sans Italics"/>
                <a:sym typeface="Clear Sans Italics"/>
              </a:rPr>
              <a:t>Hello! I can help you learn about the books we have in the library. What are you interested in today?</a:t>
            </a:r>
          </a:p>
          <a:p>
            <a:pPr algn="l">
              <a:lnSpc>
                <a:spcPts val="2940"/>
              </a:lnSpc>
            </a:pPr>
          </a:p>
          <a:p>
            <a:pPr algn="r">
              <a:lnSpc>
                <a:spcPts val="2940"/>
              </a:lnSpc>
            </a:pPr>
            <a:r>
              <a:rPr lang="en-US" sz="2100" i="true">
                <a:solidFill>
                  <a:srgbClr val="F5FFFA"/>
                </a:solidFill>
                <a:latin typeface="Clear Sans Italics"/>
                <a:ea typeface="Clear Sans Italics"/>
                <a:cs typeface="Clear Sans Italics"/>
                <a:sym typeface="Clear Sans Italics"/>
              </a:rPr>
              <a:t>Do you know about the book Shadow and Bones?</a:t>
            </a:r>
          </a:p>
          <a:p>
            <a:pPr algn="l">
              <a:lnSpc>
                <a:spcPts val="2940"/>
              </a:lnSpc>
            </a:pPr>
            <a:r>
              <a:rPr lang="en-US" sz="2100" i="true">
                <a:solidFill>
                  <a:srgbClr val="F5FFFA"/>
                </a:solidFill>
                <a:latin typeface="Clear Sans Italics"/>
                <a:ea typeface="Clear Sans Italics"/>
                <a:cs typeface="Clear Sans Italics"/>
                <a:sym typeface="Clear Sans Italics"/>
              </a:rPr>
              <a:t>Hello there! Yes, I certainly do know about "Shadow and Bone"!</a:t>
            </a:r>
          </a:p>
          <a:p>
            <a:pPr algn="l">
              <a:lnSpc>
                <a:spcPts val="2940"/>
              </a:lnSpc>
            </a:pPr>
            <a:r>
              <a:rPr lang="en-US" sz="2100" i="true">
                <a:solidFill>
                  <a:srgbClr val="F5FFFA"/>
                </a:solidFill>
                <a:latin typeface="Clear Sans Italics"/>
                <a:ea typeface="Clear Sans Italics"/>
                <a:cs typeface="Clear Sans Italics"/>
                <a:sym typeface="Clear Sans Italics"/>
              </a:rPr>
              <a:t>It's a fantastic young adult fantasy adventure novel titled "Shadow and Bone"</a:t>
            </a:r>
          </a:p>
          <a:p>
            <a:pPr algn="l">
              <a:lnSpc>
                <a:spcPts val="2940"/>
              </a:lnSpc>
            </a:pPr>
            <a:r>
              <a:rPr lang="en-US" sz="2100" i="true">
                <a:solidFill>
                  <a:srgbClr val="F5FFFA"/>
                </a:solidFill>
                <a:latin typeface="Clear Sans Italics"/>
                <a:ea typeface="Clear Sans Italics"/>
                <a:cs typeface="Clear Sans Italics"/>
                <a:sym typeface="Clear Sans Italics"/>
              </a:rPr>
              <a:t> and it was written by the talented American author, Leigh Bardugo.</a:t>
            </a:r>
          </a:p>
          <a:p>
            <a:pPr algn="l">
              <a:lnSpc>
                <a:spcPts val="2940"/>
              </a:lnSpc>
            </a:pPr>
            <a:r>
              <a:rPr lang="en-US" sz="2100" i="true">
                <a:solidFill>
                  <a:srgbClr val="F5FFFA"/>
                </a:solidFill>
                <a:latin typeface="Clear Sans Italics"/>
                <a:ea typeface="Clear Sans Italics"/>
                <a:cs typeface="Clear Sans Italics"/>
                <a:sym typeface="Clear Sans Italics"/>
              </a:rPr>
              <a:t> It first hit the shelves on June 5, 2012, published by Macmillan Publishers.</a:t>
            </a:r>
          </a:p>
          <a:p>
            <a:pPr algn="l">
              <a:lnSpc>
                <a:spcPts val="2940"/>
              </a:lnSpc>
            </a:pPr>
            <a:r>
              <a:rPr lang="en-US" sz="2100" i="true">
                <a:solidFill>
                  <a:srgbClr val="F5FFFA"/>
                </a:solidFill>
                <a:latin typeface="Clear Sans Italics"/>
                <a:ea typeface="Clear Sans Italics"/>
                <a:cs typeface="Clear Sans Italics"/>
                <a:sym typeface="Clear Sans Italics"/>
              </a:rPr>
              <a:t>What's really neat about this book is that it's the very first...</a:t>
            </a:r>
          </a:p>
          <a:p>
            <a:pPr algn="l">
              <a:lnSpc>
                <a:spcPts val="2940"/>
              </a:lnSpc>
            </a:pPr>
          </a:p>
          <a:p>
            <a:pPr algn="r">
              <a:lnSpc>
                <a:spcPts val="2940"/>
              </a:lnSpc>
            </a:pPr>
            <a:r>
              <a:rPr lang="en-US" sz="2100" i="true">
                <a:solidFill>
                  <a:srgbClr val="F5FFFA"/>
                </a:solidFill>
                <a:latin typeface="Clear Sans Italics"/>
                <a:ea typeface="Clear Sans Italics"/>
                <a:cs typeface="Clear Sans Italics"/>
                <a:sym typeface="Clear Sans Italics"/>
              </a:rPr>
              <a:t>Awesome. How about the book The Shinning? I have heard about it so much.</a:t>
            </a:r>
          </a:p>
          <a:p>
            <a:pPr algn="l">
              <a:lnSpc>
                <a:spcPts val="2940"/>
              </a:lnSpc>
            </a:pPr>
            <a:r>
              <a:rPr lang="en-US" sz="2100" i="true">
                <a:solidFill>
                  <a:srgbClr val="F5FFFA"/>
                </a:solidFill>
                <a:latin typeface="Clear Sans Italics"/>
                <a:ea typeface="Clear Sans Italics"/>
                <a:cs typeface="Clear Sans Italics"/>
                <a:sym typeface="Clear Sans Italics"/>
              </a:rPr>
              <a:t>Oh, you're asking about "The Shining"! That's a truly iconic one!</a:t>
            </a:r>
          </a:p>
          <a:p>
            <a:pPr algn="l">
              <a:lnSpc>
                <a:spcPts val="2940"/>
              </a:lnSpc>
            </a:pPr>
            <a:r>
              <a:rPr lang="en-US" sz="2100" i="true">
                <a:solidFill>
                  <a:srgbClr val="F5FFFA"/>
                </a:solidFill>
                <a:latin typeface="Clear Sans Italics"/>
                <a:ea typeface="Clear Sans Italics"/>
                <a:cs typeface="Clear Sans Italics"/>
                <a:sym typeface="Clear Sans Italics"/>
              </a:rPr>
              <a:t>It's a very famous horror novel written by the renowned American </a:t>
            </a:r>
          </a:p>
          <a:p>
            <a:pPr algn="l">
              <a:lnSpc>
                <a:spcPts val="2940"/>
              </a:lnSpc>
            </a:pPr>
            <a:r>
              <a:rPr lang="en-US" sz="2100" i="true">
                <a:solidFill>
                  <a:srgbClr val="F5FFFA"/>
                </a:solidFill>
                <a:latin typeface="Clear Sans Italics"/>
                <a:ea typeface="Clear Sans Italics"/>
                <a:cs typeface="Clear Sans Italics"/>
                <a:sym typeface="Clear Sans Italics"/>
              </a:rPr>
              <a:t>author Stephen King, and it was first published in 1977. This book ...</a:t>
            </a:r>
          </a:p>
          <a:p>
            <a:pPr algn="l">
              <a:lnSpc>
                <a:spcPts val="2940"/>
              </a:lnSpc>
            </a:pPr>
          </a:p>
          <a:p>
            <a:pPr algn="r">
              <a:lnSpc>
                <a:spcPts val="2940"/>
              </a:lnSpc>
            </a:pPr>
            <a:r>
              <a:rPr lang="en-US" sz="2100" i="true">
                <a:solidFill>
                  <a:srgbClr val="F5FFFA"/>
                </a:solidFill>
                <a:latin typeface="Clear Sans Italics"/>
                <a:ea typeface="Clear Sans Italics"/>
                <a:cs typeface="Clear Sans Italics"/>
                <a:sym typeface="Clear Sans Italics"/>
              </a:rPr>
              <a:t>Can you provide 5 book titles for thriller genres that I can give a try?</a:t>
            </a:r>
          </a:p>
          <a:p>
            <a:pPr algn="just">
              <a:lnSpc>
                <a:spcPts val="2940"/>
              </a:lnSpc>
            </a:pPr>
            <a:r>
              <a:rPr lang="en-US" sz="2100" i="true">
                <a:solidFill>
                  <a:srgbClr val="F5FFFA"/>
                </a:solidFill>
                <a:latin typeface="Clear Sans Italics"/>
                <a:ea typeface="Clear Sans Italics"/>
                <a:cs typeface="Clear Sans Italics"/>
                <a:sym typeface="Clear Sans Italics"/>
              </a:rPr>
              <a:t>Oh, absolutely! Thrillers are fantastic for keeping you on the edge of your seat. </a:t>
            </a:r>
          </a:p>
          <a:p>
            <a:pPr algn="just">
              <a:lnSpc>
                <a:spcPts val="2940"/>
              </a:lnSpc>
            </a:pPr>
            <a:r>
              <a:rPr lang="en-US" sz="2100" i="true">
                <a:solidFill>
                  <a:srgbClr val="F5FFFA"/>
                </a:solidFill>
                <a:latin typeface="Clear Sans Italics"/>
                <a:ea typeface="Clear Sans Italics"/>
                <a:cs typeface="Clear Sans Italics"/>
                <a:sym typeface="Clear Sans Italics"/>
              </a:rPr>
              <a:t>Here are 5 popular thriller book titles that you ...</a:t>
            </a:r>
          </a:p>
          <a:p>
            <a:pPr algn="just">
              <a:lnSpc>
                <a:spcPts val="2940"/>
              </a:lnSpc>
            </a:pP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5365628" y="8229600"/>
            <a:ext cx="6274865" cy="4114800"/>
          </a:xfrm>
          <a:custGeom>
            <a:avLst/>
            <a:gdLst/>
            <a:ahLst/>
            <a:cxnLst/>
            <a:rect r="r" b="b" t="t" l="l"/>
            <a:pathLst>
              <a:path h="4114800" w="6274865">
                <a:moveTo>
                  <a:pt x="0" y="0"/>
                </a:moveTo>
                <a:lnTo>
                  <a:pt x="6274865" y="0"/>
                </a:lnTo>
                <a:lnTo>
                  <a:pt x="627486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4" id="4"/>
          <p:cNvGrpSpPr/>
          <p:nvPr/>
        </p:nvGrpSpPr>
        <p:grpSpPr>
          <a:xfrm rot="0">
            <a:off x="432260" y="3292155"/>
            <a:ext cx="17090081" cy="6806292"/>
            <a:chOff x="0" y="0"/>
            <a:chExt cx="4501091" cy="179260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501091" cy="1792604"/>
            </a:xfrm>
            <a:custGeom>
              <a:avLst/>
              <a:gdLst/>
              <a:ahLst/>
              <a:cxnLst/>
              <a:rect r="r" b="b" t="t" l="l"/>
              <a:pathLst>
                <a:path h="1792604" w="4501091">
                  <a:moveTo>
                    <a:pt x="0" y="0"/>
                  </a:moveTo>
                  <a:lnTo>
                    <a:pt x="4501091" y="0"/>
                  </a:lnTo>
                  <a:lnTo>
                    <a:pt x="4501091" y="1792604"/>
                  </a:lnTo>
                  <a:lnTo>
                    <a:pt x="0" y="1792604"/>
                  </a:lnTo>
                  <a:close/>
                </a:path>
              </a:pathLst>
            </a:custGeom>
            <a:ln w="38100" cap="sq">
              <a:solidFill>
                <a:srgbClr val="F5FFFA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4501091" cy="17926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666750" y="628650"/>
            <a:ext cx="16592550" cy="78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000"/>
              </a:lnSpc>
              <a:spcBef>
                <a:spcPct val="0"/>
              </a:spcBef>
            </a:pPr>
            <a:r>
              <a:rPr lang="en-US" sz="5000" spc="-100">
                <a:solidFill>
                  <a:srgbClr val="F5FFFA"/>
                </a:solidFill>
                <a:latin typeface="Tenor Sans"/>
                <a:ea typeface="Tenor Sans"/>
                <a:cs typeface="Tenor Sans"/>
                <a:sym typeface="Tenor Sans"/>
              </a:rPr>
              <a:t>Proj</a:t>
            </a:r>
            <a:r>
              <a:rPr lang="en-US" sz="5000" spc="-100">
                <a:solidFill>
                  <a:srgbClr val="F5FFFA"/>
                </a:solidFill>
                <a:latin typeface="Tenor Sans"/>
                <a:ea typeface="Tenor Sans"/>
                <a:cs typeface="Tenor Sans"/>
                <a:sym typeface="Tenor Sans"/>
              </a:rPr>
              <a:t>ect Results and Deployment Success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66750" y="1882455"/>
            <a:ext cx="1659255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79"/>
              </a:lnSpc>
              <a:spcBef>
                <a:spcPct val="0"/>
              </a:spcBef>
            </a:pPr>
            <a:r>
              <a:rPr lang="en-US" b="true" sz="2400">
                <a:solidFill>
                  <a:srgbClr val="F5FFFA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Cloud Run Link: </a:t>
            </a:r>
            <a:r>
              <a:rPr lang="en-US" b="true" sz="2400" u="sng">
                <a:solidFill>
                  <a:srgbClr val="F5FFFA"/>
                </a:solidFill>
                <a:latin typeface="Clear Sans Bold"/>
                <a:ea typeface="Clear Sans Bold"/>
                <a:cs typeface="Clear Sans Bold"/>
                <a:sym typeface="Clear Sans Bold"/>
                <a:hlinkClick r:id="rId4" tooltip="https://library-guide-1012048153698.europe-west1.run.app"/>
              </a:rPr>
              <a:t>&lt;</a:t>
            </a:r>
            <a:r>
              <a:rPr lang="en-US" sz="2400">
                <a:solidFill>
                  <a:srgbClr val="F5FFFA"/>
                </a:solidFill>
                <a:latin typeface="Clear Sans"/>
                <a:ea typeface="Clear Sans"/>
                <a:cs typeface="Clear Sans"/>
                <a:sym typeface="Clear Sans"/>
              </a:rPr>
              <a:t>Link to app&gt;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66750" y="2663505"/>
            <a:ext cx="16855591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F5FFFA"/>
                </a:solidFill>
                <a:latin typeface="Clear Sans"/>
                <a:ea typeface="Clear Sans"/>
                <a:cs typeface="Clear Sans"/>
                <a:sym typeface="Clear Sans"/>
              </a:rPr>
              <a:t>Example: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139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45082" y="2447114"/>
            <a:ext cx="16314218" cy="6811186"/>
          </a:xfrm>
          <a:custGeom>
            <a:avLst/>
            <a:gdLst/>
            <a:ahLst/>
            <a:cxnLst/>
            <a:rect r="r" b="b" t="t" l="l"/>
            <a:pathLst>
              <a:path h="6811186" w="16314218">
                <a:moveTo>
                  <a:pt x="0" y="0"/>
                </a:moveTo>
                <a:lnTo>
                  <a:pt x="16314218" y="0"/>
                </a:lnTo>
                <a:lnTo>
                  <a:pt x="16314218" y="6811186"/>
                </a:lnTo>
                <a:lnTo>
                  <a:pt x="0" y="68111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66750" y="628650"/>
            <a:ext cx="16592550" cy="78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000"/>
              </a:lnSpc>
              <a:spcBef>
                <a:spcPct val="0"/>
              </a:spcBef>
            </a:pPr>
            <a:r>
              <a:rPr lang="en-US" sz="5000" spc="-100">
                <a:solidFill>
                  <a:srgbClr val="F5FFFA"/>
                </a:solidFill>
                <a:latin typeface="Tenor Sans"/>
                <a:ea typeface="Tenor Sans"/>
                <a:cs typeface="Tenor Sans"/>
                <a:sym typeface="Tenor Sans"/>
              </a:rPr>
              <a:t>Screenshot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Presentation - Library AI Assistant</dc:description>
  <dc:identifier>DAHEVwai9Vg</dc:identifier>
  <dcterms:modified xsi:type="dcterms:W3CDTF">2011-08-01T06:04:30Z</dcterms:modified>
  <cp:revision>1</cp:revision>
  <dc:title>Presentation - Library AI Assistant</dc:title>
</cp:coreProperties>
</file>